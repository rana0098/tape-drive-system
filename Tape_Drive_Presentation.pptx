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70" r:id="rId11"/>
    <p:sldId id="275" r:id="rId12"/>
    <p:sldId id="276" r:id="rId13"/>
    <p:sldId id="280" r:id="rId14"/>
    <p:sldId id="277" r:id="rId15"/>
    <p:sldId id="273" r:id="rId16"/>
    <p:sldId id="266" r:id="rId17"/>
    <p:sldId id="279" r:id="rId18"/>
    <p:sldId id="268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27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77ED-812E-E16C-F37D-886AE3D4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73BE0-9964-D220-8DAF-F3ABA12A3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070BC-D870-8EC5-2F11-717D791A0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3E860-B2AD-D74F-B462-D336A2D74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26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F4C6-8B63-32E5-C273-82BA9EB6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A25C1-8143-73B3-49CF-A9B740502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1D408-DB85-9C59-68C0-5A0014045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DCF65-931B-D509-A20B-556A29155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41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Drive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Modeling, Analysis &amp; Identification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Sensing and System Identification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Exercise 1, 2 &amp;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Rana Sanjideh  |  571482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029200" cy="21945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9144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model, parameters, and equations of motion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029200" cy="21945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9144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Simulation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Simulink behavior with parameter and input variations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029200" cy="21945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9144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Identification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Linearity, transfer function, stability, step response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029200" cy="21945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9144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58368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ARX &amp; FIR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Parametric model identification and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Tape Drive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lide_images/img_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80160"/>
            <a:ext cx="59436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40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Figure: Simulink Block Diagram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18288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952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Drives the capstan via input current iₐ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27889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8952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Capstan Wheel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Active inertia J₁ = 5×10⁻⁵ kg·m²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3749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8952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Tape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9520" y="4023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K = 2×10⁴ N/m, damper B = 20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47091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89520" y="4709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Idler Wheel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8952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inertia J₂ = 2×10⁻⁵ kg·m²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 — Equations of Motion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Capstan (Active)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Velocity: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v₁ = r₁·ω₁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dx₁/dt = v₁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Driven by motor torque (Kₜiₐ).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 actuator of the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Idler (Passive)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Velocity: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v₂ = r₂·ω₂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dx₂/dt = v₂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5029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motor input — driven only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the elastic tape coupling F_c.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Coupling force:  F_c = K(x₂ − x₁) + B(ẋ₂ − ẋ₁)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482F1B-1A16-EA47-4392-0D147EAA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2128"/>
            <a:ext cx="4609002" cy="4096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8295AF-28CC-D264-4264-A825DE643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11986"/>
            <a:ext cx="4896533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1295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8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Simulation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behavior across parameter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input signal variations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Response — 1A Step Input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5897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Scope: v₁, v₂, x₁, x₂ (1A step input)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1828800"/>
            <a:ext cx="4114800" cy="9144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72400" y="1828800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5528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m/s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552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Steady-State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2926080"/>
            <a:ext cx="4114800" cy="9144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72400" y="2926080"/>
            <a:ext cx="91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95528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Rise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0" y="4023360"/>
            <a:ext cx="4114800" cy="9144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72400" y="402336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5528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10.37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955280" y="4572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Overshoot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5120640"/>
            <a:ext cx="4114800" cy="9144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772400" y="5120640"/>
            <a:ext cx="9144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5528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955280" y="5669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Settling Time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3790D7-B28E-ABE1-2E31-6C2F1610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65" y="1584960"/>
            <a:ext cx="6504350" cy="431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Sensitivity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57800" cy="2468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2578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Soft Spring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 = 10,000 N/m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Slower rise, larger spring stretch, slower v₂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280160"/>
            <a:ext cx="5257800" cy="2468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1280160"/>
            <a:ext cx="52578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Heavy Idler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J₂ = 4×10⁻⁵ kg·m²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29400" y="23774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v₂ rise time doubled, gap maximized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257800" cy="2468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2578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— High Damping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 = 40 N/(m·s)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502920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Overshoot reduced to ~10%, smoother v₂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3931920"/>
            <a:ext cx="5257800" cy="2468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3931920"/>
            <a:ext cx="52578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4114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— Low Damping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4572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 = 10 N/(m·s)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502920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5440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Overshoot &gt;30%, more oscillations, longer settling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1295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8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Identification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 function, stability, and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linearity verification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Verification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1072896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linear if it satisfies both properties: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584960"/>
            <a:ext cx="264160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1584960"/>
            <a:ext cx="146304" cy="2438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55904" y="1682496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Homogeneity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755904" y="2218944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y(2u) = 2 · y(u)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755904" y="2779776"/>
            <a:ext cx="4754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input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double the output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09696" y="1548384"/>
            <a:ext cx="3712575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3409696" y="1548384"/>
            <a:ext cx="146304" cy="2438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3718560" y="1652016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3596640" y="2267712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y(u₁+u₂) = y(u₁) + y(u₂)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3718560" y="2850896"/>
            <a:ext cx="4754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inputs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sum of outputs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7680" y="4267200"/>
            <a:ext cx="11094720" cy="1889760"/>
          </a:xfrm>
          <a:prstGeom prst="rect">
            <a:avLst/>
          </a:prstGeom>
          <a:solidFill>
            <a:srgbClr val="065A82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4364736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Test</a:t>
            </a:r>
            <a:endParaRPr lang="en-US" sz="1733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815840"/>
            <a:ext cx="1060704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ones(size(t));       y1 = lsim(sys_speed, u1, t);</a:t>
            </a:r>
            <a:endParaRPr lang="en-US" sz="1467" dirty="0"/>
          </a:p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2*ones(size(t));     y2 = lsim(sys_speed, u2, t);</a:t>
            </a:r>
            <a:endParaRPr lang="en-US" sz="1467" dirty="0"/>
          </a:p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max(abs(y2 - 2*y1));   % should be ≈ 0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87680" y="6303264"/>
            <a:ext cx="11094720" cy="390144"/>
          </a:xfrm>
          <a:prstGeom prst="rect">
            <a:avLst/>
          </a:prstGeom>
          <a:solidFill>
            <a:schemeClr val="bg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87680" y="6327648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 error ≈ 0  →  System is LINEAR  (homogeneity and superposition both hold)</a:t>
            </a:r>
            <a:endParaRPr lang="en-US" sz="1600" dirty="0"/>
          </a:p>
        </p:txBody>
      </p:sp>
      <p:sp>
        <p:nvSpPr>
          <p:cNvPr id="20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Verification</a:t>
            </a:r>
            <a:endParaRPr lang="en-US" sz="30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79FA3BDE-B778-26D6-F322-A58BDD2C2964}"/>
              </a:ext>
            </a:extLst>
          </p:cNvPr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8A70EB8-EE4A-448F-95C3-14338DD5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831" y="1286256"/>
            <a:ext cx="4624420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01B6-6681-4EEC-C71A-D0D8720F2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3A6E3-D036-1FA6-989A-771EFC0EC6F8}"/>
              </a:ext>
            </a:extLst>
          </p:cNvPr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Function &amp; Stability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3F32C1-0873-1892-2BF6-05D43335BAAC}"/>
              </a:ext>
            </a:extLst>
          </p:cNvPr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D70736-ACBB-47B5-1C58-191D76E9D593}"/>
              </a:ext>
            </a:extLst>
          </p:cNvPr>
          <p:cNvSpPr/>
          <p:nvPr/>
        </p:nvSpPr>
        <p:spPr>
          <a:xfrm>
            <a:off x="54864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Laplace transform to the equations of motion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5824DD-02FA-0930-F24E-4F743FA6AD7F}"/>
              </a:ext>
            </a:extLst>
          </p:cNvPr>
          <p:cNvSpPr/>
          <p:nvPr/>
        </p:nvSpPr>
        <p:spPr>
          <a:xfrm>
            <a:off x="548640" y="1371600"/>
            <a:ext cx="11247120" cy="128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16033A-0EB8-85AB-90A3-C339D233D6CA}"/>
              </a:ext>
            </a:extLst>
          </p:cNvPr>
          <p:cNvSpPr/>
          <p:nvPr/>
        </p:nvSpPr>
        <p:spPr>
          <a:xfrm>
            <a:off x="54864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2C0097-8E9E-983C-3EE4-2E9F09F9D071}"/>
              </a:ext>
            </a:extLst>
          </p:cNvPr>
          <p:cNvSpPr/>
          <p:nvPr/>
        </p:nvSpPr>
        <p:spPr>
          <a:xfrm>
            <a:off x="548640" y="1874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3E0BD06-5DEC-7544-7C03-A1831493AA54}"/>
              </a:ext>
            </a:extLst>
          </p:cNvPr>
          <p:cNvSpPr/>
          <p:nvPr/>
        </p:nvSpPr>
        <p:spPr>
          <a:xfrm>
            <a:off x="548640" y="2926080"/>
            <a:ext cx="5486400" cy="35661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C4D8C6-C7D7-B9A8-49B1-C933128EE008}"/>
              </a:ext>
            </a:extLst>
          </p:cNvPr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1866B1-8850-CABE-7739-D8FE1406645F}"/>
              </a:ext>
            </a:extLst>
          </p:cNvPr>
          <p:cNvSpPr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S-Domain ODEs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93C00B-CC57-BB1A-C889-7F48322B50AF}"/>
              </a:ext>
            </a:extLst>
          </p:cNvPr>
          <p:cNvSpPr/>
          <p:nvPr/>
        </p:nvSpPr>
        <p:spPr>
          <a:xfrm>
            <a:off x="822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Capstan and Idler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36B909-ADC3-D8A9-4187-BA396C7D94BC}"/>
              </a:ext>
            </a:extLst>
          </p:cNvPr>
          <p:cNvSpPr/>
          <p:nvPr/>
        </p:nvSpPr>
        <p:spPr>
          <a:xfrm>
            <a:off x="822960" y="3840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 = −400 rad/s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 = −1000 rad/s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6009C5-4233-BCBD-7D72-337FDFF6EE5C}"/>
              </a:ext>
            </a:extLst>
          </p:cNvPr>
          <p:cNvSpPr/>
          <p:nvPr/>
        </p:nvSpPr>
        <p:spPr>
          <a:xfrm>
            <a:off x="82296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Poles: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BCE588-5CB3-FB9E-EE7D-7F42115A7C02}"/>
              </a:ext>
            </a:extLst>
          </p:cNvPr>
          <p:cNvSpPr/>
          <p:nvPr/>
        </p:nvSpPr>
        <p:spPr>
          <a:xfrm>
            <a:off x="822960" y="4983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EB42FC1-E9A8-17AD-B695-5C1B42A4C737}"/>
              </a:ext>
            </a:extLst>
          </p:cNvPr>
          <p:cNvSpPr/>
          <p:nvPr/>
        </p:nvSpPr>
        <p:spPr>
          <a:xfrm>
            <a:off x="6309360" y="2926080"/>
            <a:ext cx="5486400" cy="356616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16FF686-A2B9-7203-D8D6-75A63ECB544A}"/>
              </a:ext>
            </a:extLst>
          </p:cNvPr>
          <p:cNvSpPr/>
          <p:nvPr/>
        </p:nvSpPr>
        <p:spPr>
          <a:xfrm>
            <a:off x="6309360" y="2926080"/>
            <a:ext cx="5486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F349AF-5F2E-CEBF-89C5-27AE69C68A77}"/>
              </a:ext>
            </a:extLst>
          </p:cNvPr>
          <p:cNvSpPr/>
          <p:nvPr/>
        </p:nvSpPr>
        <p:spPr>
          <a:xfrm>
            <a:off x="630936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Transfer Function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8D7389C-8BA5-AF4D-8E9B-428C3F566BCE}"/>
              </a:ext>
            </a:extLst>
          </p:cNvPr>
          <p:cNvSpPr/>
          <p:nvPr/>
        </p:nvSpPr>
        <p:spPr>
          <a:xfrm>
            <a:off x="6583680" y="35661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Numerical Transfer Function</a:t>
            </a:r>
            <a:endParaRPr lang="en-US" sz="1400" dirty="0">
              <a:solidFill>
                <a:srgbClr val="1A2332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4B9497-9261-02DB-163B-7F6880888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206"/>
            <a:ext cx="4937760" cy="10062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9B5DAC-1DC6-1767-A5D9-E24358758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71" y="5191467"/>
            <a:ext cx="4813537" cy="10195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C38DC95-35DA-696B-2B6D-432C653BB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480143"/>
            <a:ext cx="4455160" cy="1039537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FE2A9328-1B68-1C69-5245-7C1690E45502}"/>
              </a:ext>
            </a:extLst>
          </p:cNvPr>
          <p:cNvSpPr/>
          <p:nvPr/>
        </p:nvSpPr>
        <p:spPr>
          <a:xfrm>
            <a:off x="5156200" y="1379057"/>
            <a:ext cx="2037080" cy="1041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 = </a:t>
            </a:r>
            <a:r>
              <a:rPr lang="en-US" sz="1400" dirty="0"/>
              <a:t>X˙1​ </a:t>
            </a: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/ Iₐ(s)</a:t>
            </a:r>
            <a:endParaRPr lang="en-US" sz="1400" dirty="0">
              <a:solidFill>
                <a:schemeClr val="bg2"/>
              </a:solidFill>
            </a:endParaRPr>
          </a:p>
          <a:p>
            <a:pPr algn="ctr"/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2A88AE8-E612-1CEA-C516-22964D793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803" y="5046121"/>
            <a:ext cx="5409957" cy="9056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95BFD-9EB4-8AD0-5005-21D671E79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3151" y="3645190"/>
            <a:ext cx="3019846" cy="95263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E508065-7353-71DB-A2C5-AC1CA183C6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248" y="1565790"/>
            <a:ext cx="396295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1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 – Theory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158240"/>
            <a:ext cx="10972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194816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C(s)  =  Kp  +  Ki / s  +  Kd · s</a:t>
            </a:r>
            <a:endParaRPr lang="en-US" sz="2933" dirty="0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560320"/>
            <a:ext cx="3413760" cy="28041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87680" y="268224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 (Kp)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389376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87680" y="3438144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current error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4267200" y="2560320"/>
            <a:ext cx="3413760" cy="2804160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267200" y="268224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 (Ki)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11040" y="3389376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267200" y="3438144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steady-state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over time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8046720" y="2560320"/>
            <a:ext cx="3413760" cy="2804160"/>
          </a:xfrm>
          <a:prstGeom prst="rect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046720" y="268224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 (Kd)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90560" y="3389376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046720" y="3438144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error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overshoot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09600" y="5608320"/>
            <a:ext cx="10972800" cy="853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564489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loop:   sys_cl = feedback( C(s) × G_vel(s) , 1 )</a:t>
            </a:r>
            <a:endParaRPr lang="en-US" sz="1867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08CA68BC-C6D5-9DC5-29E2-A23E63C6ABB2}"/>
              </a:ext>
            </a:extLst>
          </p:cNvPr>
          <p:cNvSpPr/>
          <p:nvPr/>
        </p:nvSpPr>
        <p:spPr>
          <a:xfrm>
            <a:off x="609600" y="75184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158240"/>
            <a:ext cx="79248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87680" y="1207008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1463040" y="1158240"/>
            <a:ext cx="418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706880" y="1255776"/>
            <a:ext cx="9753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Kp only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6880" y="17678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gain = 0.02  →  Kp = 1/0.02 = 50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response, but steady-state error remains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2987040"/>
            <a:ext cx="792480" cy="792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87680" y="3035808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67" dirty="0"/>
          </a:p>
        </p:txBody>
      </p:sp>
      <p:sp>
        <p:nvSpPr>
          <p:cNvPr id="11" name="Shape 9"/>
          <p:cNvSpPr/>
          <p:nvPr/>
        </p:nvSpPr>
        <p:spPr>
          <a:xfrm>
            <a:off x="1463040" y="2987040"/>
            <a:ext cx="418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706880" y="3084576"/>
            <a:ext cx="9753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Ki (remove error)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06880" y="35966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τᵢ ≈ 4/ωn = 0.008  →  Ki = Kp/τᵢ = 6250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steady-state error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7680" y="4815840"/>
            <a:ext cx="792480" cy="792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87680" y="4864608"/>
            <a:ext cx="7924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67" dirty="0"/>
          </a:p>
        </p:txBody>
      </p:sp>
      <p:sp>
        <p:nvSpPr>
          <p:cNvPr id="16" name="Shape 14"/>
          <p:cNvSpPr/>
          <p:nvPr/>
        </p:nvSpPr>
        <p:spPr>
          <a:xfrm>
            <a:off x="1463040" y="4815840"/>
            <a:ext cx="4185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706880" y="4913376"/>
            <a:ext cx="9753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Kd (reduce overshoot)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06880" y="54254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τd ≈ 1/(4ωn) = 0.0005  →  Kd = 0.025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Damps oscillation, improves response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B910-2677-E687-5780-2F4137C12D05}"/>
              </a:ext>
            </a:extLst>
          </p:cNvPr>
          <p:cNvSpPr txBox="1"/>
          <p:nvPr/>
        </p:nvSpPr>
        <p:spPr>
          <a:xfrm>
            <a:off x="233680" y="33170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Manual PID Design – Step by Step</a:t>
            </a:r>
            <a:endParaRPr lang="en-US" sz="30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83C45CB9-6E99-3995-87FB-01996F5E66CA}"/>
              </a:ext>
            </a:extLst>
          </p:cNvPr>
          <p:cNvSpPr/>
          <p:nvPr/>
        </p:nvSpPr>
        <p:spPr>
          <a:xfrm>
            <a:off x="365760" y="914154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E0CA8F-1819-F30A-3BCD-53A71D7A7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40" y="831824"/>
            <a:ext cx="5019040" cy="30696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505706-14CE-79E7-166C-D873C5070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12" y="3998976"/>
            <a:ext cx="3877216" cy="23339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Model &amp; Approximation Results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072896"/>
            <a:ext cx="11216640" cy="5852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87680" y="1097280"/>
            <a:ext cx="1121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sys_id  =  sys_speed  —  Identified model is IDENTICAL to theoretical model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486400" cy="2133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65760" y="1926336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 (sys_id)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353056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tfest on simulation data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12s  +  4800</a:t>
            </a:r>
            <a:endParaRPr lang="en-US" sz="2133" dirty="0">
              <a:solidFill>
                <a:schemeClr val="bg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3169920"/>
            <a:ext cx="40233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65760" y="32308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+ 760s + 240000</a:t>
            </a:r>
            <a:endParaRPr lang="en-US" sz="2133" dirty="0"/>
          </a:p>
        </p:txBody>
      </p:sp>
      <p:sp>
        <p:nvSpPr>
          <p:cNvPr id="12" name="Shape 10"/>
          <p:cNvSpPr/>
          <p:nvPr/>
        </p:nvSpPr>
        <p:spPr>
          <a:xfrm>
            <a:off x="6339840" y="1828800"/>
            <a:ext cx="5486400" cy="2133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339840" y="1926336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 (sys_speed)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9840" y="2353056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physics equations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339840" y="2706624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chemeClr val="bg2">
                    <a:lumMod val="9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12s  +  4800</a:t>
            </a:r>
            <a:endParaRPr lang="en-US" sz="2133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71360" y="3169920"/>
            <a:ext cx="40233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339840" y="32308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+ 760s + 240000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5547360" y="2804160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733" dirty="0">
              <a:solidFill>
                <a:schemeClr val="accent4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" y="416966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across all input types: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256032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65760" y="4657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Input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65760" y="5059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267456" y="4572000"/>
            <a:ext cx="256032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3267456" y="4657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w=10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3267456" y="5059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6169152" y="4572000"/>
            <a:ext cx="256032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169152" y="4657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w=489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169152" y="5059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9070848" y="4572000"/>
            <a:ext cx="256032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9070848" y="4657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w=5000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9070848" y="5059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65760" y="5974080"/>
            <a:ext cx="11460480" cy="7071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487680" y="6059424"/>
            <a:ext cx="1121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Poles: 2    Zeros: 1    Free coefficients: 4    </a:t>
            </a:r>
            <a:r>
              <a:rPr lang="en-US" sz="16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FPE: 9.26e-29    MSE: 9.04e-29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B2A404-1446-D17A-422C-32BD7E7D6C97}"/>
              </a:ext>
            </a:extLst>
          </p:cNvPr>
          <p:cNvSpPr txBox="1"/>
          <p:nvPr/>
        </p:nvSpPr>
        <p:spPr>
          <a:xfrm>
            <a:off x="365760" y="150459"/>
            <a:ext cx="82194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Model &amp; Approximation Results</a:t>
            </a:r>
            <a:endParaRPr lang="en-US" sz="3000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6FEA007A-8BAE-1C18-EE54-F2CDC1C4C690}"/>
              </a:ext>
            </a:extLst>
          </p:cNvPr>
          <p:cNvSpPr/>
          <p:nvPr/>
        </p:nvSpPr>
        <p:spPr>
          <a:xfrm>
            <a:off x="365760" y="650748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609600" y="1097280"/>
            <a:ext cx="10972800" cy="853440"/>
          </a:xfrm>
          <a:prstGeom prst="rect">
            <a:avLst/>
          </a:prstGeom>
          <a:solidFill>
            <a:srgbClr val="065A82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13385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Characteristic equation:   s²  +  760s  +  240000  =  0</a:t>
            </a:r>
            <a:endParaRPr lang="en-US" sz="2133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255520"/>
            <a:ext cx="2275840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87680" y="2255520"/>
            <a:ext cx="226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7680" y="2901696"/>
            <a:ext cx="2448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s₁ = −380 + j309.3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487680" y="3377184"/>
            <a:ext cx="244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half plane ✓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3059430" y="2231136"/>
            <a:ext cx="2448560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2576830" y="2263648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796032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s₂ = −380 − j309.3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2767330" y="3387344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half plane ✓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5681980" y="2243328"/>
            <a:ext cx="2353310" cy="18409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5151755" y="2284984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93122" y="2816352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−400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5267112" y="3358896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poles → simplifies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09600" y="4328160"/>
            <a:ext cx="10972800" cy="792480"/>
          </a:xfrm>
          <a:prstGeom prst="rect">
            <a:avLst/>
          </a:prstGeom>
          <a:solidFill>
            <a:schemeClr val="bg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438912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poles have NEGATIVE real part (−380)  →  System is STABLE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9600" y="5364480"/>
            <a:ext cx="1097280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31520" y="5462016"/>
            <a:ext cx="107289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poles  →  </a:t>
            </a:r>
            <a:r>
              <a:rPr lang="en-US" sz="1867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oscillatory response  </a:t>
            </a:r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(overshoots then settles)</a:t>
            </a:r>
            <a:endParaRPr lang="en-US" sz="1867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55EFF-316B-AD7C-4AD9-3A06AC9FBA41}"/>
              </a:ext>
            </a:extLst>
          </p:cNvPr>
          <p:cNvSpPr txBox="1"/>
          <p:nvPr/>
        </p:nvSpPr>
        <p:spPr>
          <a:xfrm>
            <a:off x="325120" y="114407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</a:t>
            </a:r>
            <a:endParaRPr lang="en-US" sz="3000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84788ED2-DCA2-5A1F-8A4C-E8FEE58D057E}"/>
              </a:ext>
            </a:extLst>
          </p:cNvPr>
          <p:cNvSpPr/>
          <p:nvPr/>
        </p:nvSpPr>
        <p:spPr>
          <a:xfrm>
            <a:off x="487680" y="700917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0BC1EF-61CF-062D-B453-CFDC1DC80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420" y="2089013"/>
            <a:ext cx="3615900" cy="21861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85049-6DCF-1EBD-7BD9-E1518B09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0AE072-3C02-DED3-E18A-445B9C79FAD9}"/>
              </a:ext>
            </a:extLst>
          </p:cNvPr>
          <p:cNvSpPr/>
          <p:nvPr/>
        </p:nvSpPr>
        <p:spPr>
          <a:xfrm>
            <a:off x="487369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Response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CA488E-A137-4F25-63F3-54238827AD2B}"/>
              </a:ext>
            </a:extLst>
          </p:cNvPr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288414-BC82-A153-AD68-23E4DC56241A}"/>
              </a:ext>
            </a:extLst>
          </p:cNvPr>
          <p:cNvSpPr/>
          <p:nvPr/>
        </p:nvSpPr>
        <p:spPr>
          <a:xfrm>
            <a:off x="548640" y="1371600"/>
            <a:ext cx="1874313" cy="1766047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897B19-97C3-7D0F-9C13-A473BE9D5009}"/>
              </a:ext>
            </a:extLst>
          </p:cNvPr>
          <p:cNvSpPr/>
          <p:nvPr/>
        </p:nvSpPr>
        <p:spPr>
          <a:xfrm>
            <a:off x="548640" y="1371600"/>
            <a:ext cx="1874313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00762C-F762-64E3-6DBA-AFA4C8C5E09B}"/>
              </a:ext>
            </a:extLst>
          </p:cNvPr>
          <p:cNvSpPr/>
          <p:nvPr/>
        </p:nvSpPr>
        <p:spPr>
          <a:xfrm>
            <a:off x="675641" y="1710466"/>
            <a:ext cx="1874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10.2ms</a:t>
            </a:r>
            <a:endParaRPr lang="en-US" sz="4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9F57C9-F634-1DBB-6485-8E5A76496A5B}"/>
              </a:ext>
            </a:extLst>
          </p:cNvPr>
          <p:cNvSpPr/>
          <p:nvPr/>
        </p:nvSpPr>
        <p:spPr>
          <a:xfrm>
            <a:off x="8229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Time</a:t>
            </a:r>
            <a:endParaRPr lang="en-US" sz="2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48F012F-1A00-AF97-1CBB-E1AF5C1B64BE}"/>
              </a:ext>
            </a:extLst>
          </p:cNvPr>
          <p:cNvSpPr/>
          <p:nvPr/>
        </p:nvSpPr>
        <p:spPr>
          <a:xfrm>
            <a:off x="822960" y="28346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5689ED5-1165-52DE-DE47-AACE42234FCC}"/>
              </a:ext>
            </a:extLst>
          </p:cNvPr>
          <p:cNvSpPr/>
          <p:nvPr/>
        </p:nvSpPr>
        <p:spPr>
          <a:xfrm>
            <a:off x="3063240" y="1371600"/>
            <a:ext cx="1874313" cy="17830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240C68F-125F-FF46-2530-91E681E89A29}"/>
              </a:ext>
            </a:extLst>
          </p:cNvPr>
          <p:cNvSpPr/>
          <p:nvPr/>
        </p:nvSpPr>
        <p:spPr>
          <a:xfrm>
            <a:off x="3063240" y="1371599"/>
            <a:ext cx="1874313" cy="154193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413D68-6723-0000-F2BE-8F9177EB8EC6}"/>
              </a:ext>
            </a:extLst>
          </p:cNvPr>
          <p:cNvSpPr/>
          <p:nvPr/>
        </p:nvSpPr>
        <p:spPr>
          <a:xfrm>
            <a:off x="3223363" y="17751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2.1ms</a:t>
            </a:r>
            <a:endParaRPr lang="en-US" sz="4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E29611-CFDE-8896-AB16-A27C611588B9}"/>
              </a:ext>
            </a:extLst>
          </p:cNvPr>
          <p:cNvSpPr/>
          <p:nvPr/>
        </p:nvSpPr>
        <p:spPr>
          <a:xfrm>
            <a:off x="3246120" y="2303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Time</a:t>
            </a:r>
            <a:endParaRPr lang="en-US" sz="2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1B158A2-A042-BF80-5D69-570D32199960}"/>
              </a:ext>
            </a:extLst>
          </p:cNvPr>
          <p:cNvSpPr/>
          <p:nvPr/>
        </p:nvSpPr>
        <p:spPr>
          <a:xfrm>
            <a:off x="3246120" y="2807208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EA67662-C116-A80A-9700-90360F069002}"/>
              </a:ext>
            </a:extLst>
          </p:cNvPr>
          <p:cNvSpPr/>
          <p:nvPr/>
        </p:nvSpPr>
        <p:spPr>
          <a:xfrm>
            <a:off x="8321040" y="1371600"/>
            <a:ext cx="1874313" cy="1766047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E08496D-948E-00C4-4246-E32417B5D5AC}"/>
              </a:ext>
            </a:extLst>
          </p:cNvPr>
          <p:cNvSpPr/>
          <p:nvPr/>
        </p:nvSpPr>
        <p:spPr>
          <a:xfrm>
            <a:off x="8321040" y="1371600"/>
            <a:ext cx="1874313" cy="101839"/>
          </a:xfrm>
          <a:prstGeom prst="rect">
            <a:avLst/>
          </a:prstGeom>
          <a:solidFill>
            <a:schemeClr val="accent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396514B-BF75-3FEA-E496-AA2445DAE54D}"/>
              </a:ext>
            </a:extLst>
          </p:cNvPr>
          <p:cNvSpPr/>
          <p:nvPr/>
        </p:nvSpPr>
        <p:spPr>
          <a:xfrm>
            <a:off x="8341360" y="1473439"/>
            <a:ext cx="1691847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10.37%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AF26E0-BB93-2E3E-F879-8DD0F47AF4E2}"/>
              </a:ext>
            </a:extLst>
          </p:cNvPr>
          <p:cNvSpPr/>
          <p:nvPr/>
        </p:nvSpPr>
        <p:spPr>
          <a:xfrm>
            <a:off x="85953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</a:t>
            </a:r>
            <a:endParaRPr lang="en-US" sz="2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82CAB5F-3103-8EB9-1766-F4F2D84C433C}"/>
              </a:ext>
            </a:extLst>
          </p:cNvPr>
          <p:cNvSpPr/>
          <p:nvPr/>
        </p:nvSpPr>
        <p:spPr>
          <a:xfrm>
            <a:off x="8595360" y="28346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A0CE0410-E02D-B2A9-021F-29B7A2A61508}"/>
              </a:ext>
            </a:extLst>
          </p:cNvPr>
          <p:cNvSpPr/>
          <p:nvPr/>
        </p:nvSpPr>
        <p:spPr>
          <a:xfrm>
            <a:off x="5783373" y="1392159"/>
            <a:ext cx="1874313" cy="1762521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A5D6C7A7-6FA2-3ADE-92B1-78CA21B60025}"/>
              </a:ext>
            </a:extLst>
          </p:cNvPr>
          <p:cNvSpPr/>
          <p:nvPr/>
        </p:nvSpPr>
        <p:spPr>
          <a:xfrm>
            <a:off x="5783373" y="1392159"/>
            <a:ext cx="1874313" cy="133633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E6AF5770-E95C-9EDB-7C19-1A735256F3FF}"/>
              </a:ext>
            </a:extLst>
          </p:cNvPr>
          <p:cNvSpPr/>
          <p:nvPr/>
        </p:nvSpPr>
        <p:spPr>
          <a:xfrm>
            <a:off x="5852056" y="1712199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0.0200</a:t>
            </a:r>
            <a:endParaRPr lang="en-US" sz="44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2C9E7132-2A76-D7F5-B979-8E19D6058AC4}"/>
              </a:ext>
            </a:extLst>
          </p:cNvPr>
          <p:cNvSpPr/>
          <p:nvPr/>
        </p:nvSpPr>
        <p:spPr>
          <a:xfrm>
            <a:off x="5973769" y="2822575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DE155-CF28-DB0C-166A-08D2240D8574}"/>
              </a:ext>
            </a:extLst>
          </p:cNvPr>
          <p:cNvSpPr txBox="1"/>
          <p:nvPr/>
        </p:nvSpPr>
        <p:spPr>
          <a:xfrm>
            <a:off x="5862320" y="241109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22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F0CB97-272C-7D88-2281-5679EBBB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566160"/>
            <a:ext cx="4991797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16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1295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8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&amp; FIR Models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parametric model identification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&amp; FIR Model Identification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5364480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Model  —  na=8, nb=8, nk=1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584960"/>
            <a:ext cx="5364480" cy="6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82880" y="1894805"/>
            <a:ext cx="573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A(z)y(t)  =  B(z)u(t)  +  e(t)</a:t>
            </a:r>
            <a:br>
              <a:rPr lang="en-US" sz="1733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y(t) + a₁y(t-1)+...+ aₙₐy(t-nₐ) = b₁u(t-1)+...+ bₙᵦu(t-nᵦ) + e(t)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65760" y="2438400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87680" y="249936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Order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3048000" y="249936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na=8,  nb=8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50464"/>
            <a:ext cx="5364480" cy="46329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87680" y="301142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Time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3048000" y="301142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0.001 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462528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87680" y="3523488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Coefficients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3048000" y="3523488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parameters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974592"/>
            <a:ext cx="5364480" cy="46329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87680" y="4035552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(estimation)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048000" y="4035552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99.21%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486656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487680" y="454761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048000" y="454761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9.821e-09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1760" y="1036320"/>
            <a:ext cx="536448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461760" y="1060704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Model  —  50-Tap Filter</a:t>
            </a:r>
            <a:endParaRPr lang="en-US" sz="1733" dirty="0"/>
          </a:p>
        </p:txBody>
      </p:sp>
      <p:sp>
        <p:nvSpPr>
          <p:cNvPr id="25" name="Shape 23"/>
          <p:cNvSpPr/>
          <p:nvPr/>
        </p:nvSpPr>
        <p:spPr>
          <a:xfrm>
            <a:off x="6461760" y="1584960"/>
            <a:ext cx="5364480" cy="6705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461760" y="1865376"/>
            <a:ext cx="536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  =  B(z)u(t)  —  no feedback</a:t>
            </a:r>
            <a:br>
              <a:rPr lang="en-US" sz="1733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y(t) = b₀u(t) + b₁u(t-1) + ... + </a:t>
            </a:r>
            <a:r>
              <a:rPr lang="en-US" i="1" dirty="0" err="1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bₙu</a:t>
            </a:r>
            <a:r>
              <a:rPr lang="en-US" i="1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(t-n) + e(t)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6461760" y="2438400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583680" y="249936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Taps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9144000" y="249936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coefficients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61760" y="2950464"/>
            <a:ext cx="5364480" cy="463296"/>
          </a:xfrm>
          <a:prstGeom prst="rect">
            <a:avLst/>
          </a:prstGeom>
          <a:solidFill>
            <a:srgbClr val="EEFAF7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583680" y="301142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Time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9144000" y="301142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0.001 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1760" y="3462528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6583680" y="3523488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9144000" y="3523488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(FIR)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1760" y="3974592"/>
            <a:ext cx="5364480" cy="463296"/>
          </a:xfrm>
          <a:prstGeom prst="rect">
            <a:avLst/>
          </a:prstGeom>
          <a:solidFill>
            <a:srgbClr val="EEFAF7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583680" y="4035552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(validation)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9144000" y="4035552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99.18%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61760" y="4486656"/>
            <a:ext cx="53644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6583680" y="454761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coeff.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9144000" y="454761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9.93e-03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13120" y="1036320"/>
            <a:ext cx="0" cy="426720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365760" y="5547360"/>
            <a:ext cx="11460480" cy="341376"/>
          </a:xfrm>
          <a:prstGeom prst="rect">
            <a:avLst/>
          </a:prstGeom>
          <a:solidFill>
            <a:schemeClr val="bg2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365760" y="5571744"/>
            <a:ext cx="1146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5913120"/>
            <a:ext cx="26822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365760" y="5949696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Fit</a:t>
            </a:r>
            <a:endParaRPr lang="en-US" sz="1333" dirty="0"/>
          </a:p>
        </p:txBody>
      </p:sp>
      <p:sp>
        <p:nvSpPr>
          <p:cNvPr id="47" name="Text 45"/>
          <p:cNvSpPr/>
          <p:nvPr/>
        </p:nvSpPr>
        <p:spPr>
          <a:xfrm>
            <a:off x="365760" y="6242304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99.18%</a:t>
            </a:r>
            <a:endParaRPr lang="en-US" sz="1867" dirty="0"/>
          </a:p>
        </p:txBody>
      </p:sp>
      <p:sp>
        <p:nvSpPr>
          <p:cNvPr id="48" name="Shape 46"/>
          <p:cNvSpPr/>
          <p:nvPr/>
        </p:nvSpPr>
        <p:spPr>
          <a:xfrm>
            <a:off x="3291840" y="5913120"/>
            <a:ext cx="26822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3291840" y="5949696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Fit</a:t>
            </a:r>
            <a:endParaRPr lang="en-US" sz="1333" dirty="0"/>
          </a:p>
        </p:txBody>
      </p:sp>
      <p:sp>
        <p:nvSpPr>
          <p:cNvPr id="50" name="Text 48"/>
          <p:cNvSpPr/>
          <p:nvPr/>
        </p:nvSpPr>
        <p:spPr>
          <a:xfrm>
            <a:off x="3291840" y="6242304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99.18%</a:t>
            </a:r>
            <a:endParaRPr lang="en-US" sz="1867" dirty="0"/>
          </a:p>
        </p:txBody>
      </p:sp>
      <p:sp>
        <p:nvSpPr>
          <p:cNvPr id="51" name="Shape 49"/>
          <p:cNvSpPr/>
          <p:nvPr/>
        </p:nvSpPr>
        <p:spPr>
          <a:xfrm>
            <a:off x="6217920" y="5913120"/>
            <a:ext cx="26822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2" name="Text 50"/>
          <p:cNvSpPr/>
          <p:nvPr/>
        </p:nvSpPr>
        <p:spPr>
          <a:xfrm>
            <a:off x="6217920" y="5949696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Test</a:t>
            </a:r>
            <a:endParaRPr lang="en-US" sz="1333" dirty="0"/>
          </a:p>
        </p:txBody>
      </p:sp>
      <p:sp>
        <p:nvSpPr>
          <p:cNvPr id="53" name="Text 51"/>
          <p:cNvSpPr/>
          <p:nvPr/>
        </p:nvSpPr>
        <p:spPr>
          <a:xfrm>
            <a:off x="6217920" y="6242304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✓</a:t>
            </a:r>
            <a:endParaRPr lang="en-US" sz="1867" dirty="0"/>
          </a:p>
        </p:txBody>
      </p:sp>
      <p:sp>
        <p:nvSpPr>
          <p:cNvPr id="54" name="Shape 52"/>
          <p:cNvSpPr/>
          <p:nvPr/>
        </p:nvSpPr>
        <p:spPr>
          <a:xfrm>
            <a:off x="9144000" y="5913120"/>
            <a:ext cx="26822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/>
          <p:nvPr/>
        </p:nvSpPr>
        <p:spPr>
          <a:xfrm>
            <a:off x="9144000" y="5949696"/>
            <a:ext cx="26822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 Match</a:t>
            </a:r>
            <a:endParaRPr lang="en-US" sz="1333" dirty="0"/>
          </a:p>
        </p:txBody>
      </p:sp>
      <p:sp>
        <p:nvSpPr>
          <p:cNvPr id="56" name="Text 54"/>
          <p:cNvSpPr/>
          <p:nvPr/>
        </p:nvSpPr>
        <p:spPr>
          <a:xfrm>
            <a:off x="9144000" y="6242304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✓</a:t>
            </a:r>
            <a:endParaRPr lang="en-US" sz="1867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9359AB7D-98BA-7FD0-8403-8AEB3B20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14" y="79423"/>
            <a:ext cx="5377138" cy="810838"/>
          </a:xfrm>
          <a:prstGeom prst="rect">
            <a:avLst/>
          </a:prstGeom>
        </p:spPr>
      </p:pic>
      <p:sp>
        <p:nvSpPr>
          <p:cNvPr id="61" name="Shape 1">
            <a:extLst>
              <a:ext uri="{FF2B5EF4-FFF2-40B4-BE49-F238E27FC236}">
                <a16:creationId xmlns:a16="http://schemas.microsoft.com/office/drawing/2014/main" id="{317065CE-FA7C-C795-0046-9120ECAF4236}"/>
              </a:ext>
            </a:extLst>
          </p:cNvPr>
          <p:cNvSpPr/>
          <p:nvPr/>
        </p:nvSpPr>
        <p:spPr>
          <a:xfrm>
            <a:off x="365760" y="659892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754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1371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K dominates coupling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Idler J₂ controls sync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Damping B sets overshoot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Bandwidth ~78 Hz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520440" cy="4754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52044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091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09160" y="28346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30175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is linear (verified)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Stable (all poles ≤ 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ωₙ = 490 rad/s, ζ = 0.776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2nd-order model: 99% fit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1371600"/>
            <a:ext cx="3520440" cy="475488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71560" y="886460"/>
            <a:ext cx="352044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5953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595360" y="283464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30175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ARX fit &gt;  99.21%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 fit &gt;  99.18%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validate G(s)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Ready for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complementary approaches deliver complete system understanding for robust control design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532120" y="365760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F9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Rana Sanjideh   |   571482   |   rana.sanjideh@studenti.unime.it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1292</Words>
  <Application>Microsoft Office PowerPoint</Application>
  <PresentationFormat>Widescreen</PresentationFormat>
  <Paragraphs>263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Tape Drive System Analysis</dc:title>
  <dc:subject>PptxGenJS Presentation</dc:subject>
  <dc:creator>Rana Sanjideh</dc:creator>
  <cp:lastModifiedBy>Rana Sanjideh</cp:lastModifiedBy>
  <cp:revision>19</cp:revision>
  <dcterms:created xsi:type="dcterms:W3CDTF">2026-04-30T14:03:08Z</dcterms:created>
  <dcterms:modified xsi:type="dcterms:W3CDTF">2026-06-03T20:55:35Z</dcterms:modified>
</cp:coreProperties>
</file>